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rious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5"/>
                </a:solidFill>
                <a:latin typeface="Segoe UI"/>
              </a:defRPr>
            </a:pPr>
            <a:r>
              <a:t>TRANSFORMACIÓN DE VALOR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286000" cy="1371600"/>
          </a:xfrm>
          <a:prstGeom prst="roundRect">
            <a:avLst/>
          </a:prstGeom>
          <a:solidFill>
            <a:srgbClr val="1E1E23"/>
          </a:solidFill>
          <a:ln>
            <a:solidFill>
              <a:srgbClr val="64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B4B4BE"/>
                </a:solidFill>
                <a:latin typeface="Segoe UI"/>
              </a:defRPr>
            </a:pPr>
            <a:r>
              <a:t>DATOS</a:t>
            </a:r>
            <a:br/>
            <a:r>
              <a:t>CRUDOS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3200400"/>
            <a:ext cx="731520" cy="457200"/>
          </a:xfrm>
          <a:prstGeom prst="rightArrow">
            <a:avLst/>
          </a:prstGeom>
          <a:solidFill>
            <a:srgbClr val="A0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3840480" y="2514600"/>
            <a:ext cx="1828800" cy="1828800"/>
          </a:xfrm>
          <a:prstGeom prst="hexagon">
            <a:avLst/>
          </a:prstGeom>
          <a:solidFill>
            <a:srgbClr val="A0A0AA"/>
          </a:solidFill>
          <a:ln>
            <a:solidFill>
              <a:srgbClr val="A0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41414"/>
                </a:solidFill>
                <a:latin typeface="Segoe UI"/>
              </a:defRPr>
            </a:pPr>
            <a:r>
              <a:t>MOTOR</a:t>
            </a:r>
            <a:br/>
            <a:r>
              <a:t>B.I.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60" y="3200400"/>
            <a:ext cx="731520" cy="457200"/>
          </a:xfrm>
          <a:prstGeom prst="rightArrow">
            <a:avLst/>
          </a:prstGeom>
          <a:solidFill>
            <a:srgbClr val="A0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0" y="2743200"/>
            <a:ext cx="2286000" cy="1371600"/>
          </a:xfrm>
          <a:prstGeom prst="roundRect">
            <a:avLst/>
          </a:prstGeom>
          <a:solidFill>
            <a:srgbClr val="1E1E23"/>
          </a:solidFill>
          <a:ln>
            <a:solidFill>
              <a:srgbClr val="64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5"/>
                </a:solidFill>
                <a:latin typeface="Segoe UI"/>
              </a:defRPr>
            </a:pPr>
            <a:r>
              <a:t>DECISIONES</a:t>
            </a:r>
            <a:br/>
            <a:r>
              <a:t>RENTABLES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rious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F5F5"/>
                </a:solidFill>
                <a:latin typeface="Segoe UI"/>
              </a:defRPr>
            </a:pPr>
            <a:r>
              <a:t>ESTRUCTURA METODOLÓGICA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A0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828800"/>
            <a:ext cx="548640" cy="548640"/>
          </a:xfrm>
          <a:prstGeom prst="ellipse">
            <a:avLst/>
          </a:prstGeom>
          <a:solidFill>
            <a:srgbClr val="1E1E23"/>
          </a:solidFill>
          <a:ln>
            <a:solidFill>
              <a:srgbClr val="A0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A0A0AA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5F5F5"/>
                </a:solidFill>
                <a:latin typeface="Segoe UI"/>
              </a:defRPr>
            </a:pPr>
            <a:r>
              <a:t>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BE"/>
                </a:solidFill>
                <a:latin typeface="Segoe UI"/>
              </a:defRPr>
            </a:pPr>
            <a:r>
              <a:t>Auditoría de bases de datos y mapeo de procesos.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1E1E23"/>
          </a:solidFill>
          <a:ln>
            <a:solidFill>
              <a:srgbClr val="A0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A0A0AA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5F5F5"/>
                </a:solidFill>
                <a:latin typeface="Segoe UI"/>
              </a:defRPr>
            </a:pPr>
            <a:r>
              <a:t>ESTRUCTURACIÓN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BE"/>
                </a:solidFill>
                <a:latin typeface="Segoe UI"/>
              </a:defRPr>
            </a:pPr>
            <a:r>
              <a:t>Diseño dimensional y pipeline ETL sin código.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1E1E23"/>
          </a:solidFill>
          <a:ln>
            <a:solidFill>
              <a:srgbClr val="A0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A0A0AA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5F5F5"/>
                </a:solidFill>
                <a:latin typeface="Segoe UI"/>
              </a:defRPr>
            </a:pPr>
            <a:r>
              <a:t>FORMULACIÓN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BE"/>
                </a:solidFill>
                <a:latin typeface="Segoe UI"/>
              </a:defRPr>
            </a:pPr>
            <a:r>
              <a:t>Modelado matemático de KPIs operativos y financieros.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548640" cy="548640"/>
          </a:xfrm>
          <a:prstGeom prst="ellipse">
            <a:avLst/>
          </a:prstGeom>
          <a:solidFill>
            <a:srgbClr val="1E1E23"/>
          </a:solidFill>
          <a:ln>
            <a:solidFill>
              <a:srgbClr val="A0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A0A0AA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5F5F5"/>
                </a:solidFill>
                <a:latin typeface="Segoe UI"/>
              </a:defRPr>
            </a:pPr>
            <a:r>
              <a:t>DESARROLLO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BE"/>
                </a:solidFill>
                <a:latin typeface="Segoe UI"/>
              </a:defRPr>
            </a:pPr>
            <a:r>
              <a:t>Despliegue del Tablero de Control interactivo.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486400"/>
            <a:ext cx="548640" cy="548640"/>
          </a:xfrm>
          <a:prstGeom prst="ellipse">
            <a:avLst/>
          </a:prstGeom>
          <a:solidFill>
            <a:srgbClr val="1E1E23"/>
          </a:solidFill>
          <a:ln>
            <a:solidFill>
              <a:srgbClr val="A0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A0A0AA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94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5F5F5"/>
                </a:solidFill>
                <a:latin typeface="Segoe UI"/>
              </a:defRPr>
            </a:pPr>
            <a:r>
              <a:t>EVALUACIÓN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BE"/>
                </a:solidFill>
                <a:latin typeface="Segoe UI"/>
              </a:defRPr>
            </a:pPr>
            <a:r>
              <a:t>Análisis de viabilidad económica (VAN, TIR y ROI).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rious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800">
                <a:solidFill>
                  <a:srgbClr val="F5F5F5"/>
                </a:solidFill>
                <a:latin typeface="Segoe UI"/>
              </a:defRPr>
            </a:pPr>
            <a:r>
              <a:t>CONTRIBUCIONES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2743200" cy="45720"/>
          </a:xfrm>
          <a:prstGeom prst="rect">
            <a:avLst/>
          </a:prstGeom>
          <a:solidFill>
            <a:srgbClr val="A0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377440" cy="3657600"/>
          </a:xfrm>
          <a:prstGeom prst="roundRect">
            <a:avLst/>
          </a:prstGeom>
          <a:solidFill>
            <a:srgbClr val="1E1E23"/>
          </a:solidFill>
          <a:ln>
            <a:solidFill>
              <a:srgbClr val="64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800">
                <a:solidFill>
                  <a:srgbClr val="3C3C41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F5F5F5"/>
                </a:solidFill>
                <a:latin typeface="Segoe UI"/>
              </a:defRPr>
            </a:pPr>
            <a:r>
              <a:t>Arquitectura de</a:t>
            </a:r>
            <a:br/>
            <a:r>
              <a:t>Datos Saneada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11680"/>
            <a:ext cx="2377440" cy="3657600"/>
          </a:xfrm>
          <a:prstGeom prst="roundRect">
            <a:avLst/>
          </a:prstGeom>
          <a:solidFill>
            <a:srgbClr val="1E1E23"/>
          </a:solidFill>
          <a:ln>
            <a:solidFill>
              <a:srgbClr val="64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800">
                <a:solidFill>
                  <a:srgbClr val="3C3C41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F5F5F5"/>
                </a:solidFill>
                <a:latin typeface="Segoe UI"/>
              </a:defRPr>
            </a:pPr>
            <a:r>
              <a:t>Motor de KPIs</a:t>
            </a:r>
            <a:br/>
            <a:r>
              <a:t>Operativos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2377440" cy="3657600"/>
          </a:xfrm>
          <a:prstGeom prst="roundRect">
            <a:avLst/>
          </a:prstGeom>
          <a:solidFill>
            <a:srgbClr val="1E1E23"/>
          </a:solidFill>
          <a:ln>
            <a:solidFill>
              <a:srgbClr val="64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800">
                <a:solidFill>
                  <a:srgbClr val="3C3C41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F5F5F5"/>
                </a:solidFill>
                <a:latin typeface="Segoe UI"/>
              </a:defRPr>
            </a:pPr>
            <a:r>
              <a:t>Viabilidad Financiera</a:t>
            </a:r>
            <a:br/>
            <a:r>
              <a:t>Demostrada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