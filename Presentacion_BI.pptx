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400">
                <a:solidFill>
                  <a:srgbClr val="000000"/>
                </a:solidFill>
                <a:latin typeface="Arial"/>
              </a:defRPr>
            </a:pPr>
            <a:r>
              <a:t>DATOS TRANSACCIONALES CRUDOS   ➔   ⚙️   ➔   DECISIONES ESTRATÉGICAS RENTABLES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600">
                <a:latin typeface="Arial"/>
              </a:defRPr>
            </a:pPr>
            <a:r>
              <a:t>ESTRUCTURA METODOLÓGICA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323232"/>
                </a:solidFill>
                <a:latin typeface="Arial"/>
              </a:defRPr>
            </a:pPr>
            <a:r>
              <a:t>1. Diagnóstico: Auditoría de bases de datos y mapeo de procesos.</a:t>
            </a:r>
          </a:p>
          <a:p>
            <a:pPr>
              <a:spcBef>
                <a:spcPts val="1400"/>
              </a:spcBef>
              <a:defRPr sz="2400">
                <a:solidFill>
                  <a:srgbClr val="323232"/>
                </a:solidFill>
                <a:latin typeface="Arial"/>
              </a:defRPr>
            </a:pPr>
            <a:r>
              <a:t>2. Estructuración: Diseño dimensional y proceso ETL.</a:t>
            </a:r>
          </a:p>
          <a:p>
            <a:pPr>
              <a:spcBef>
                <a:spcPts val="1400"/>
              </a:spcBef>
              <a:defRPr sz="2400">
                <a:solidFill>
                  <a:srgbClr val="323232"/>
                </a:solidFill>
                <a:latin typeface="Arial"/>
              </a:defRPr>
            </a:pPr>
            <a:r>
              <a:t>3. Formulación: Modelado matemático de KPIs operativos.</a:t>
            </a:r>
          </a:p>
          <a:p>
            <a:pPr>
              <a:spcBef>
                <a:spcPts val="1400"/>
              </a:spcBef>
              <a:defRPr sz="2400">
                <a:solidFill>
                  <a:srgbClr val="323232"/>
                </a:solidFill>
                <a:latin typeface="Arial"/>
              </a:defRPr>
            </a:pPr>
            <a:r>
              <a:t>4. Desarrollo Visual: Tablero de Control interactivo (BI).</a:t>
            </a:r>
          </a:p>
          <a:p>
            <a:pPr>
              <a:spcBef>
                <a:spcPts val="1400"/>
              </a:spcBef>
              <a:defRPr sz="2400">
                <a:solidFill>
                  <a:srgbClr val="323232"/>
                </a:solidFill>
                <a:latin typeface="Arial"/>
              </a:defRPr>
            </a:pPr>
            <a:r>
              <a:t>5. Evaluación Económica: Viabilidad financiera (VAN y TIR).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FFFFFF"/>
                </a:solidFill>
                <a:latin typeface="Arial"/>
              </a:defRPr>
            </a:pPr>
            <a:r>
              <a:t>CONTRIBUCIONES DEL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FFFFFF"/>
                </a:solidFill>
                <a:latin typeface="Arial"/>
              </a:defRPr>
            </a:pPr>
            <a:r>
              <a:t>I. Arquitectura de Datos Saneada</a:t>
            </a:r>
          </a:p>
          <a:p>
            <a:pPr algn="ctr">
              <a:spcBef>
                <a:spcPts val="3000"/>
              </a:spcBef>
              <a:defRPr b="1" sz="2800">
                <a:solidFill>
                  <a:srgbClr val="FFFFFF"/>
                </a:solidFill>
                <a:latin typeface="Arial"/>
              </a:defRPr>
            </a:pPr>
            <a:r>
              <a:t>II. Motor de KPIs Operativos</a:t>
            </a:r>
          </a:p>
          <a:p>
            <a:pPr algn="ctr">
              <a:spcBef>
                <a:spcPts val="3000"/>
              </a:spcBef>
              <a:defRPr b="1" sz="2800">
                <a:solidFill>
                  <a:srgbClr val="FFFFFF"/>
                </a:solidFill>
                <a:latin typeface="Arial"/>
              </a:defRPr>
            </a:pPr>
            <a:r>
              <a:t>III. Viabilidad Financiera Demostrada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