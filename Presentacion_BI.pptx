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72CE"/>
                </a:solidFill>
                <a:latin typeface="Segoe UI"/>
              </a:defRPr>
            </a:pPr>
            <a:r>
              <a:t>TRANSFORMACIÓN DE VALOR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743200"/>
            <a:ext cx="2286000" cy="1371600"/>
          </a:xfrm>
          <a:prstGeom prst="round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DATOS</a:t>
            </a:r>
            <a:br/>
            <a:r>
              <a:t>CRUDOS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926080" y="3200400"/>
            <a:ext cx="731520" cy="457200"/>
          </a:xfrm>
          <a:prstGeom prst="rightArrow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3840480" y="2514600"/>
            <a:ext cx="1828800" cy="1828800"/>
          </a:xfrm>
          <a:prstGeom prst="hexagon">
            <a:avLst/>
          </a:prstGeom>
          <a:solidFill>
            <a:srgbClr val="0072CE"/>
          </a:solidFill>
          <a:ln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MOTOR</a:t>
            </a:r>
            <a:br/>
            <a:r>
              <a:t>B.I.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852160" y="3200400"/>
            <a:ext cx="731520" cy="457200"/>
          </a:xfrm>
          <a:prstGeom prst="rightArrow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0" y="2743200"/>
            <a:ext cx="2286000" cy="1371600"/>
          </a:xfrm>
          <a:prstGeom prst="roundRect">
            <a:avLst/>
          </a:prstGeom>
          <a:solidFill>
            <a:srgbClr val="00B2A9"/>
          </a:solidFill>
          <a:ln>
            <a:solidFill>
              <a:srgbClr val="00B2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DECISIONES</a:t>
            </a:r>
            <a:br/>
            <a:r>
              <a:t>RENTABLES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3200">
                <a:solidFill>
                  <a:srgbClr val="FFFFFF"/>
                </a:solidFill>
                <a:latin typeface="Segoe UI"/>
              </a:defRPr>
            </a:pPr>
            <a:r>
              <a:t>ESTRUCTURA METODOLÓGICA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645920"/>
            <a:ext cx="640080" cy="640080"/>
          </a:xfrm>
          <a:prstGeom prst="ellipse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64592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0F2043"/>
                </a:solidFill>
                <a:latin typeface="Segoe UI"/>
              </a:defRPr>
            </a:pPr>
            <a:r>
              <a:t>DIAGNÓSTICO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645920"/>
            <a:ext cx="5029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  <a:latin typeface="Segoe UI"/>
              </a:defRPr>
            </a:pPr>
            <a:r>
              <a:t>Auditoría de bases de datos y mapeo de procesos.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2468880"/>
            <a:ext cx="640080" cy="640080"/>
          </a:xfrm>
          <a:prstGeom prst="ellipse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46888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0F2043"/>
                </a:solidFill>
                <a:latin typeface="Segoe UI"/>
              </a:defRPr>
            </a:pPr>
            <a:r>
              <a:t>ESTRUCTURACIÓN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468880"/>
            <a:ext cx="5029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  <a:latin typeface="Segoe UI"/>
              </a:defRPr>
            </a:pPr>
            <a:r>
              <a:t>Diseño dimensional y pipeline ETL sin código.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3291840"/>
            <a:ext cx="640080" cy="640080"/>
          </a:xfrm>
          <a:prstGeom prst="ellipse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9184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0F2043"/>
                </a:solidFill>
                <a:latin typeface="Segoe UI"/>
              </a:defRPr>
            </a:pPr>
            <a:r>
              <a:t>FORMULACIÓN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291840"/>
            <a:ext cx="5029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  <a:latin typeface="Segoe UI"/>
              </a:defRPr>
            </a:pPr>
            <a:r>
              <a:t>Modelado matemático de KPIs operativos y financieros.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114800"/>
            <a:ext cx="640080" cy="640080"/>
          </a:xfrm>
          <a:prstGeom prst="ellipse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1480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0F2043"/>
                </a:solidFill>
                <a:latin typeface="Segoe UI"/>
              </a:defRPr>
            </a:pPr>
            <a:r>
              <a:t>DESARROLLO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114800"/>
            <a:ext cx="5029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  <a:latin typeface="Segoe UI"/>
              </a:defRPr>
            </a:pPr>
            <a:r>
              <a:t>Despliegue del Tablero de Control interactivo.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4937760"/>
            <a:ext cx="640080" cy="640080"/>
          </a:xfrm>
          <a:prstGeom prst="ellipse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3776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0F2043"/>
                </a:solidFill>
                <a:latin typeface="Segoe UI"/>
              </a:defRPr>
            </a:pPr>
            <a:r>
              <a:t>EVALUACIÓN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937760"/>
            <a:ext cx="5029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  <a:latin typeface="Segoe UI"/>
              </a:defRPr>
            </a:pPr>
            <a:r>
              <a:t>Análisis de viabilidad económica (VAN, TIR y ROI).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0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600">
                <a:solidFill>
                  <a:srgbClr val="FFFFFF"/>
                </a:solidFill>
                <a:latin typeface="Segoe UI"/>
              </a:defRPr>
            </a:pPr>
            <a:r>
              <a:t>CONTRIBUCIONES DEL PROYECTO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86000"/>
            <a:ext cx="228600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2286000" cy="182880"/>
          </a:xfrm>
          <a:prstGeom prst="rect">
            <a:avLst/>
          </a:prstGeom>
          <a:solidFill>
            <a:srgbClr val="00B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DCE1EB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0F2043"/>
                </a:solidFill>
                <a:latin typeface="Segoe UI"/>
              </a:defRPr>
            </a:pPr>
            <a:r>
              <a:t>Arquitectura de Datos Saneada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2286000"/>
            <a:ext cx="228600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0" y="2286000"/>
            <a:ext cx="2286000" cy="182880"/>
          </a:xfrm>
          <a:prstGeom prst="rect">
            <a:avLst/>
          </a:prstGeom>
          <a:solidFill>
            <a:srgbClr val="00B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74320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DCE1EB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6576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0F2043"/>
                </a:solidFill>
                <a:latin typeface="Segoe UI"/>
              </a:defRPr>
            </a:pPr>
            <a:r>
              <a:t>Motor de KPIs Operativos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286000"/>
            <a:ext cx="228600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2286000"/>
            <a:ext cx="2286000" cy="182880"/>
          </a:xfrm>
          <a:prstGeom prst="rect">
            <a:avLst/>
          </a:prstGeom>
          <a:solidFill>
            <a:srgbClr val="00B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74320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DCE1EB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6576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0F2043"/>
                </a:solidFill>
                <a:latin typeface="Segoe UI"/>
              </a:defRPr>
            </a:pPr>
            <a:r>
              <a:t>Viabilidad Financiera Demostrada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